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4" r:id="rId7"/>
    <p:sldId id="261" r:id="rId8"/>
    <p:sldId id="262" r:id="rId9"/>
    <p:sldId id="263" r:id="rId10"/>
    <p:sldId id="266" r:id="rId11"/>
    <p:sldId id="267" r:id="rId12"/>
    <p:sldId id="268" r:id="rId13"/>
    <p:sldId id="265" r:id="rId14"/>
    <p:sldId id="269" r:id="rId15"/>
    <p:sldId id="270" r:id="rId16"/>
    <p:sldId id="271" r:id="rId17"/>
    <p:sldId id="272"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df4d52dc6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df4d52dc6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edf4d52dc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edf4d52dc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edf4d52dc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edf4d52dc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edf4d52dc6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edf4d52dc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1AE2EC2F-4FA0-B32D-FFE0-BB4523BF99F0}"/>
            </a:ext>
          </a:extLst>
        </p:cNvPr>
        <p:cNvGrpSpPr/>
        <p:nvPr/>
      </p:nvGrpSpPr>
      <p:grpSpPr>
        <a:xfrm>
          <a:off x="0" y="0"/>
          <a:ext cx="0" cy="0"/>
          <a:chOff x="0" y="0"/>
          <a:chExt cx="0" cy="0"/>
        </a:xfrm>
      </p:grpSpPr>
      <p:sp>
        <p:nvSpPr>
          <p:cNvPr id="75" name="Google Shape;75;g3edf4d52dc6_0_11:notes">
            <a:extLst>
              <a:ext uri="{FF2B5EF4-FFF2-40B4-BE49-F238E27FC236}">
                <a16:creationId xmlns:a16="http://schemas.microsoft.com/office/drawing/2014/main" id="{D1CCEC66-D67A-98DD-B5DF-715ABABC85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edf4d52dc6_0_11:notes">
            <a:extLst>
              <a:ext uri="{FF2B5EF4-FFF2-40B4-BE49-F238E27FC236}">
                <a16:creationId xmlns:a16="http://schemas.microsoft.com/office/drawing/2014/main" id="{188656BA-4438-4B28-9871-0747CF9AA5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7190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edf4d52dc6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edf4d52dc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df4d52dc6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edf4d52dc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df4d52dc6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df4d52dc6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A330693-F336-CA76-1881-4EE198C298FD}"/>
            </a:ext>
          </a:extLst>
        </p:cNvPr>
        <p:cNvGrpSpPr/>
        <p:nvPr/>
      </p:nvGrpSpPr>
      <p:grpSpPr>
        <a:xfrm>
          <a:off x="0" y="0"/>
          <a:ext cx="0" cy="0"/>
          <a:chOff x="0" y="0"/>
          <a:chExt cx="0" cy="0"/>
        </a:xfrm>
      </p:grpSpPr>
      <p:sp>
        <p:nvSpPr>
          <p:cNvPr id="93" name="Google Shape;93;g3edf4d52dc6_0_29:notes">
            <a:extLst>
              <a:ext uri="{FF2B5EF4-FFF2-40B4-BE49-F238E27FC236}">
                <a16:creationId xmlns:a16="http://schemas.microsoft.com/office/drawing/2014/main" id="{B48742C3-EEC0-71EE-F468-77D5E020BA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df4d52dc6_0_29:notes">
            <a:extLst>
              <a:ext uri="{FF2B5EF4-FFF2-40B4-BE49-F238E27FC236}">
                <a16:creationId xmlns:a16="http://schemas.microsoft.com/office/drawing/2014/main" id="{9350DD41-424B-3BBB-A933-DFA8EB2B65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602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AC45A2E-9869-496B-CB2A-8A481080710F}"/>
            </a:ext>
          </a:extLst>
        </p:cNvPr>
        <p:cNvGrpSpPr/>
        <p:nvPr/>
      </p:nvGrpSpPr>
      <p:grpSpPr>
        <a:xfrm>
          <a:off x="0" y="0"/>
          <a:ext cx="0" cy="0"/>
          <a:chOff x="0" y="0"/>
          <a:chExt cx="0" cy="0"/>
        </a:xfrm>
      </p:grpSpPr>
      <p:sp>
        <p:nvSpPr>
          <p:cNvPr id="93" name="Google Shape;93;g3edf4d52dc6_0_29:notes">
            <a:extLst>
              <a:ext uri="{FF2B5EF4-FFF2-40B4-BE49-F238E27FC236}">
                <a16:creationId xmlns:a16="http://schemas.microsoft.com/office/drawing/2014/main" id="{09C3F813-03E2-AA3B-62E4-B8A0F2D9A8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df4d52dc6_0_29:notes">
            <a:extLst>
              <a:ext uri="{FF2B5EF4-FFF2-40B4-BE49-F238E27FC236}">
                <a16:creationId xmlns:a16="http://schemas.microsoft.com/office/drawing/2014/main" id="{10E32ACC-D30C-8211-763F-8C030EF131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8271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49DAF95-7A05-72FD-1D18-BF59BA172E56}"/>
            </a:ext>
          </a:extLst>
        </p:cNvPr>
        <p:cNvGrpSpPr/>
        <p:nvPr/>
      </p:nvGrpSpPr>
      <p:grpSpPr>
        <a:xfrm>
          <a:off x="0" y="0"/>
          <a:ext cx="0" cy="0"/>
          <a:chOff x="0" y="0"/>
          <a:chExt cx="0" cy="0"/>
        </a:xfrm>
      </p:grpSpPr>
      <p:sp>
        <p:nvSpPr>
          <p:cNvPr id="93" name="Google Shape;93;g3edf4d52dc6_0_29:notes">
            <a:extLst>
              <a:ext uri="{FF2B5EF4-FFF2-40B4-BE49-F238E27FC236}">
                <a16:creationId xmlns:a16="http://schemas.microsoft.com/office/drawing/2014/main" id="{104ABFE8-C551-903B-7A39-5F6B79D92C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df4d52dc6_0_29:notes">
            <a:extLst>
              <a:ext uri="{FF2B5EF4-FFF2-40B4-BE49-F238E27FC236}">
                <a16:creationId xmlns:a16="http://schemas.microsoft.com/office/drawing/2014/main" id="{4AEFD88C-BA93-906E-FE63-83607E81A9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680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DA2B409-727F-D76F-3259-3F21B5C38C15}"/>
            </a:ext>
          </a:extLst>
        </p:cNvPr>
        <p:cNvGrpSpPr/>
        <p:nvPr/>
      </p:nvGrpSpPr>
      <p:grpSpPr>
        <a:xfrm>
          <a:off x="0" y="0"/>
          <a:ext cx="0" cy="0"/>
          <a:chOff x="0" y="0"/>
          <a:chExt cx="0" cy="0"/>
        </a:xfrm>
      </p:grpSpPr>
      <p:sp>
        <p:nvSpPr>
          <p:cNvPr id="93" name="Google Shape;93;g3edf4d52dc6_0_29:notes">
            <a:extLst>
              <a:ext uri="{FF2B5EF4-FFF2-40B4-BE49-F238E27FC236}">
                <a16:creationId xmlns:a16="http://schemas.microsoft.com/office/drawing/2014/main" id="{03952322-28EE-112C-E42B-09E1827C31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df4d52dc6_0_29:notes">
            <a:extLst>
              <a:ext uri="{FF2B5EF4-FFF2-40B4-BE49-F238E27FC236}">
                <a16:creationId xmlns:a16="http://schemas.microsoft.com/office/drawing/2014/main" id="{E3A02496-E580-2EEC-7998-CFBABE9C8F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5633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6F273F6-7B45-9F71-5DB2-B0C8836F5514}"/>
            </a:ext>
          </a:extLst>
        </p:cNvPr>
        <p:cNvGrpSpPr/>
        <p:nvPr/>
      </p:nvGrpSpPr>
      <p:grpSpPr>
        <a:xfrm>
          <a:off x="0" y="0"/>
          <a:ext cx="0" cy="0"/>
          <a:chOff x="0" y="0"/>
          <a:chExt cx="0" cy="0"/>
        </a:xfrm>
      </p:grpSpPr>
      <p:sp>
        <p:nvSpPr>
          <p:cNvPr id="93" name="Google Shape;93;g3edf4d52dc6_0_29:notes">
            <a:extLst>
              <a:ext uri="{FF2B5EF4-FFF2-40B4-BE49-F238E27FC236}">
                <a16:creationId xmlns:a16="http://schemas.microsoft.com/office/drawing/2014/main" id="{EA44CA19-BB45-51DC-E9FD-4BA35C29FA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df4d52dc6_0_29:notes">
            <a:extLst>
              <a:ext uri="{FF2B5EF4-FFF2-40B4-BE49-F238E27FC236}">
                <a16:creationId xmlns:a16="http://schemas.microsoft.com/office/drawing/2014/main" id="{3F098326-1558-1C8D-6498-E4E1CC2F7F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176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6965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training-chatbot-ui-900460058773.us-central1.run.app/"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url.us.m.mimecastprotect.com/s/ZK1ZC82lEqc6jv7zKCnfjcySXCU?domain=training-chatbot-900460058773.us-central1.run.app"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url.us.m.mimecastprotect.com/s/k_WsCjRP82unjp3mLTWfGcmrg2b?domain=github.com"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hyperlink" Target="https://url.us.m.mimecastprotect.com/s/k_WsCjRP82unjp3mLTWfGcmrg2b?domain=github.com"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1153498"/>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sz="3200" dirty="0"/>
              <a:t>Child Welfare Training Chatbot</a:t>
            </a:r>
            <a:br>
              <a:rPr lang="en" sz="3200" dirty="0"/>
            </a:br>
            <a:r>
              <a:rPr lang="en" sz="3200" dirty="0"/>
              <a:t>Child Abuse and Neglect Training in Texas</a:t>
            </a:r>
            <a:endParaRPr sz="3200" dirty="0"/>
          </a:p>
        </p:txBody>
      </p:sp>
      <p:sp>
        <p:nvSpPr>
          <p:cNvPr id="55" name="Google Shape;55;p13"/>
          <p:cNvSpPr txBox="1">
            <a:spLocks noGrp="1"/>
          </p:cNvSpPr>
          <p:nvPr>
            <p:ph type="subTitle" idx="1"/>
          </p:nvPr>
        </p:nvSpPr>
        <p:spPr>
          <a:xfrm>
            <a:off x="1136045" y="2363071"/>
            <a:ext cx="7031209" cy="7926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en" dirty="0"/>
              <a:t>Early Childhood Care and Educators, Family Services Professionals</a:t>
            </a:r>
            <a:endParaRPr dirty="0"/>
          </a:p>
          <a:p>
            <a:pPr marL="0" lvl="0" indent="0" algn="l" rtl="0">
              <a:spcBef>
                <a:spcPts val="0"/>
              </a:spcBef>
              <a:spcAft>
                <a:spcPts val="0"/>
              </a:spcAft>
              <a:buNone/>
            </a:pPr>
            <a:r>
              <a:rPr lang="en" dirty="0"/>
              <a:t>June 24,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990"/>
              <a:buFont typeface="Arial"/>
              <a:buNone/>
            </a:pPr>
            <a:r>
              <a:rPr lang="en" sz="2880" dirty="0"/>
              <a:t>Child Abuse and Neglect Training </a:t>
            </a:r>
            <a:br>
              <a:rPr lang="en" sz="2880" dirty="0"/>
            </a:br>
            <a:r>
              <a:rPr lang="en" sz="2880" dirty="0"/>
              <a:t>in Texas Agent</a:t>
            </a:r>
            <a:endParaRPr sz="2880" dirty="0"/>
          </a:p>
          <a:p>
            <a:pPr marL="0" lvl="0" indent="0" algn="l" rtl="0">
              <a:spcBef>
                <a:spcPts val="0"/>
              </a:spcBef>
              <a:spcAft>
                <a:spcPts val="0"/>
              </a:spcAft>
              <a:buSzPts val="990"/>
              <a:buNone/>
            </a:pPr>
            <a:endParaRPr sz="2520" dirty="0"/>
          </a:p>
        </p:txBody>
      </p:sp>
      <p:sp>
        <p:nvSpPr>
          <p:cNvPr id="61" name="Google Shape;61;p14"/>
          <p:cNvSpPr txBox="1">
            <a:spLocks noGrp="1"/>
          </p:cNvSpPr>
          <p:nvPr>
            <p:ph type="body" idx="1"/>
          </p:nvPr>
        </p:nvSpPr>
        <p:spPr>
          <a:xfrm>
            <a:off x="2008913" y="1796712"/>
            <a:ext cx="5320146" cy="2401216"/>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A one stop, shop for individuals and organizations working with young children in Texas to find updated information, law, regulations, and professional development opportunities related to mandated reporting of child abuse and neglect.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Overview</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Audience: Early Childhood Care and Education and Family Services professionals and organizations in Texas</a:t>
            </a:r>
            <a:endParaRPr/>
          </a:p>
          <a:p>
            <a:pPr marL="0" lvl="0" indent="0" algn="l" rtl="0">
              <a:spcBef>
                <a:spcPts val="1200"/>
              </a:spcBef>
              <a:spcAft>
                <a:spcPts val="0"/>
              </a:spcAft>
              <a:buNone/>
            </a:pPr>
            <a:r>
              <a:rPr lang="en"/>
              <a:t>Challenge: Finding up-to-date, easily accessible information on mandated reporting in one central repository.</a:t>
            </a:r>
            <a:endParaRPr/>
          </a:p>
          <a:p>
            <a:pPr marL="0" lvl="0" indent="0" algn="l" rtl="0">
              <a:spcBef>
                <a:spcPts val="1200"/>
              </a:spcBef>
              <a:spcAft>
                <a:spcPts val="0"/>
              </a:spcAft>
              <a:buNone/>
            </a:pPr>
            <a:r>
              <a:rPr lang="en"/>
              <a:t>Solution:</a:t>
            </a:r>
            <a:endParaRPr/>
          </a:p>
          <a:p>
            <a:pPr marL="0" lvl="0" indent="0" algn="l" rtl="0">
              <a:spcBef>
                <a:spcPts val="1200"/>
              </a:spcBef>
              <a:spcAft>
                <a:spcPts val="0"/>
              </a:spcAft>
              <a:buNone/>
            </a:pPr>
            <a:r>
              <a:rPr lang="en"/>
              <a:t>A tool that has centralized, authoritative, and reliable information and training for the key audience to access the knowledge, information, and expertise to respond to incidents of child abuse and neglect.</a:t>
            </a:r>
            <a:endParaRPr/>
          </a:p>
          <a:p>
            <a:pPr marL="0" lvl="0" indent="0" algn="l" rtl="0">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44">
                <a:solidFill>
                  <a:srgbClr val="222222"/>
                </a:solidFill>
                <a:highlight>
                  <a:srgbClr val="FFFFFF"/>
                </a:highlight>
              </a:rPr>
              <a:t>RAG Documents</a:t>
            </a:r>
            <a:endParaRPr sz="2444"/>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10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2000">
                <a:solidFill>
                  <a:srgbClr val="222222"/>
                </a:solidFill>
                <a:highlight>
                  <a:srgbClr val="FFFFFF"/>
                </a:highlight>
              </a:rPr>
              <a:t>Reporting abuse, neglect, and exploitation of a child in Texas</a:t>
            </a:r>
            <a:endParaRPr sz="20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2000">
                <a:solidFill>
                  <a:srgbClr val="222222"/>
                </a:solidFill>
                <a:highlight>
                  <a:srgbClr val="FFFFFF"/>
                </a:highlight>
              </a:rPr>
              <a:t>Mandatory reporting in Texas</a:t>
            </a:r>
            <a:endParaRPr sz="20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2000">
                <a:solidFill>
                  <a:srgbClr val="222222"/>
                </a:solidFill>
                <a:highlight>
                  <a:srgbClr val="FFFFFF"/>
                </a:highlight>
              </a:rPr>
              <a:t>Contact information for DFPS</a:t>
            </a:r>
            <a:endParaRPr sz="20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2000">
                <a:solidFill>
                  <a:srgbClr val="222222"/>
                </a:solidFill>
                <a:highlight>
                  <a:srgbClr val="FFFFFF"/>
                </a:highlight>
              </a:rPr>
              <a:t>Notes, files, or documents for reporting</a:t>
            </a:r>
            <a:endParaRPr sz="20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2000">
                <a:solidFill>
                  <a:srgbClr val="222222"/>
                </a:solidFill>
                <a:highlight>
                  <a:srgbClr val="FFFFFF"/>
                </a:highlight>
              </a:rPr>
              <a:t>False reporting</a:t>
            </a:r>
            <a:endParaRPr sz="20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2000">
                <a:solidFill>
                  <a:srgbClr val="222222"/>
                </a:solidFill>
                <a:highlight>
                  <a:srgbClr val="FFFFFF"/>
                </a:highlight>
              </a:rPr>
              <a:t>Good faith reporter</a:t>
            </a:r>
            <a:endParaRPr sz="20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2000">
                <a:solidFill>
                  <a:srgbClr val="222222"/>
                </a:solidFill>
                <a:highlight>
                  <a:srgbClr val="FFFFFF"/>
                </a:highlight>
              </a:rPr>
              <a:t>Requirements under Texas Family Code 261.101 through 261.110</a:t>
            </a:r>
            <a:endParaRPr sz="2000">
              <a:solidFill>
                <a:srgbClr val="222222"/>
              </a:solidFill>
              <a:highlight>
                <a:srgbClr val="FFFFFF"/>
              </a:highlight>
            </a:endParaRPr>
          </a:p>
          <a:p>
            <a:pPr marL="0" lvl="0" indent="0" algn="l" rtl="0">
              <a:spcBef>
                <a:spcPts val="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Web Search Enquiries or Questions</a:t>
            </a: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000">
                <a:solidFill>
                  <a:srgbClr val="222222"/>
                </a:solidFill>
                <a:highlight>
                  <a:srgbClr val="FFFFFF"/>
                </a:highlight>
              </a:rPr>
              <a:t> </a:t>
            </a:r>
            <a:endParaRPr sz="1000">
              <a:solidFill>
                <a:srgbClr val="222222"/>
              </a:solidFill>
              <a:highlight>
                <a:srgbClr val="FFFFFF"/>
              </a:highlight>
            </a:endParaRPr>
          </a:p>
          <a:p>
            <a:pPr marL="457200" lvl="0" indent="-342900" algn="l" rtl="0">
              <a:spcBef>
                <a:spcPts val="0"/>
              </a:spcBef>
              <a:spcAft>
                <a:spcPts val="0"/>
              </a:spcAft>
              <a:buSzPts val="1800"/>
              <a:buChar char="❖"/>
            </a:pPr>
            <a:r>
              <a:rPr lang="en">
                <a:solidFill>
                  <a:srgbClr val="222222"/>
                </a:solidFill>
                <a:highlight>
                  <a:srgbClr val="FFFFFF"/>
                </a:highlight>
              </a:rPr>
              <a:t>Federal, State, and local laws and policies</a:t>
            </a:r>
            <a:r>
              <a:rPr lang="en" sz="1900">
                <a:solidFill>
                  <a:schemeClr val="dk1"/>
                </a:solidFill>
                <a:highlight>
                  <a:srgbClr val="FFFFFF"/>
                </a:highlight>
              </a:rPr>
              <a:t> on child abuse and neglect</a:t>
            </a:r>
            <a:endParaRPr sz="1900">
              <a:solidFill>
                <a:schemeClr val="dk1"/>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Mandatory reporting of child abuse and neglect in Texas</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Data and Reports on child abuse and neglect</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Texas child centered care</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Child safety and prevention</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Adoption and foster care</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Child Investigations</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Child Services</a:t>
            </a:r>
            <a:endParaRPr>
              <a:solidFill>
                <a:srgbClr val="222222"/>
              </a:solidFill>
              <a:highlight>
                <a:srgbClr val="FFFFFF"/>
              </a:highlight>
            </a:endParaRPr>
          </a:p>
          <a:p>
            <a:pPr marL="0" lvl="0" indent="0" algn="l" rtl="0">
              <a:spcBef>
                <a:spcPts val="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A266C9E6-1DB9-B154-2182-8076065027AC}"/>
            </a:ext>
          </a:extLst>
        </p:cNvPr>
        <p:cNvGrpSpPr/>
        <p:nvPr/>
      </p:nvGrpSpPr>
      <p:grpSpPr>
        <a:xfrm>
          <a:off x="0" y="0"/>
          <a:ext cx="0" cy="0"/>
          <a:chOff x="0" y="0"/>
          <a:chExt cx="0" cy="0"/>
        </a:xfrm>
      </p:grpSpPr>
      <p:sp>
        <p:nvSpPr>
          <p:cNvPr id="78" name="Google Shape;78;p17">
            <a:extLst>
              <a:ext uri="{FF2B5EF4-FFF2-40B4-BE49-F238E27FC236}">
                <a16:creationId xmlns:a16="http://schemas.microsoft.com/office/drawing/2014/main" id="{CC1AA937-DB6F-151D-0CBE-67F0AE04F7B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Multi Agents System</a:t>
            </a:r>
            <a:endParaRPr dirty="0"/>
          </a:p>
        </p:txBody>
      </p:sp>
      <p:sp>
        <p:nvSpPr>
          <p:cNvPr id="79" name="Google Shape;79;p17">
            <a:extLst>
              <a:ext uri="{FF2B5EF4-FFF2-40B4-BE49-F238E27FC236}">
                <a16:creationId xmlns:a16="http://schemas.microsoft.com/office/drawing/2014/main" id="{5E5E373D-EBE1-71CC-CAA8-773AA7FC2EC6}"/>
              </a:ext>
            </a:extLst>
          </p:cNvPr>
          <p:cNvSpPr txBox="1">
            <a:spLocks noGrp="1"/>
          </p:cNvSpPr>
          <p:nvPr>
            <p:ph type="body" idx="1"/>
          </p:nvPr>
        </p:nvSpPr>
        <p:spPr>
          <a:xfrm>
            <a:off x="311700" y="1152475"/>
            <a:ext cx="7107409"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000" dirty="0">
                <a:solidFill>
                  <a:srgbClr val="222222"/>
                </a:solidFill>
                <a:highlight>
                  <a:srgbClr val="FFFFFF"/>
                </a:highlight>
              </a:rPr>
              <a:t> </a:t>
            </a:r>
            <a:endParaRPr sz="1000" dirty="0">
              <a:solidFill>
                <a:srgbClr val="222222"/>
              </a:solidFill>
              <a:highlight>
                <a:srgbClr val="FFFFFF"/>
              </a:highlight>
            </a:endParaRPr>
          </a:p>
          <a:p>
            <a:pPr marL="457200" lvl="0" indent="-342900" algn="l" rtl="0">
              <a:spcBef>
                <a:spcPts val="0"/>
              </a:spcBef>
              <a:spcAft>
                <a:spcPts val="0"/>
              </a:spcAft>
              <a:buSzPts val="1800"/>
              <a:buChar char="❖"/>
            </a:pPr>
            <a:r>
              <a:rPr lang="en-US" dirty="0">
                <a:solidFill>
                  <a:srgbClr val="222222"/>
                </a:solidFill>
                <a:highlight>
                  <a:srgbClr val="FFFFFF"/>
                </a:highlight>
              </a:rPr>
              <a:t>Orchestrator Agent</a:t>
            </a:r>
          </a:p>
          <a:p>
            <a:pPr lvl="1" indent="-342900">
              <a:buSzPts val="1800"/>
              <a:buFont typeface="Arial" panose="020B0604020202020204" pitchFamily="34" charset="0"/>
              <a:buChar char="•"/>
            </a:pPr>
            <a:r>
              <a:rPr lang="en-US" dirty="0">
                <a:solidFill>
                  <a:srgbClr val="222222"/>
                </a:solidFill>
                <a:highlight>
                  <a:srgbClr val="FFFFFF"/>
                </a:highlight>
              </a:rPr>
              <a:t>Route user Queries to appropriate agents</a:t>
            </a:r>
          </a:p>
          <a:p>
            <a:pPr lvl="1" indent="-342900">
              <a:buSzPts val="1800"/>
              <a:buFont typeface="Arial" panose="020B0604020202020204" pitchFamily="34" charset="0"/>
              <a:buChar char="•"/>
            </a:pPr>
            <a:r>
              <a:rPr lang="en-US" dirty="0">
                <a:solidFill>
                  <a:srgbClr val="222222"/>
                </a:solidFill>
                <a:highlight>
                  <a:srgbClr val="FFFFFF"/>
                </a:highlight>
              </a:rPr>
              <a:t>Ensures responses follow training objectives and compliance rules</a:t>
            </a:r>
          </a:p>
          <a:p>
            <a:pPr lvl="1" indent="-342900">
              <a:buSzPts val="1800"/>
              <a:buFont typeface="Arial" panose="020B0604020202020204" pitchFamily="34" charset="0"/>
              <a:buChar char="•"/>
            </a:pPr>
            <a:endParaRPr lang="en-US" dirty="0">
              <a:solidFill>
                <a:srgbClr val="222222"/>
              </a:solidFill>
              <a:highlight>
                <a:srgbClr val="FFFFFF"/>
              </a:highlight>
            </a:endParaRPr>
          </a:p>
          <a:p>
            <a:pPr>
              <a:buFont typeface="Wingdings" panose="05000000000000000000" pitchFamily="2" charset="2"/>
              <a:buChar char="v"/>
            </a:pPr>
            <a:r>
              <a:rPr lang="en-US" dirty="0">
                <a:solidFill>
                  <a:srgbClr val="222222"/>
                </a:solidFill>
                <a:highlight>
                  <a:srgbClr val="FFFFFF"/>
                </a:highlight>
              </a:rPr>
              <a:t>Researcher Agent</a:t>
            </a:r>
          </a:p>
          <a:p>
            <a:pPr lvl="1">
              <a:buFont typeface="Arial" panose="020B0604020202020204" pitchFamily="34" charset="0"/>
              <a:buChar char="•"/>
            </a:pPr>
            <a:r>
              <a:rPr lang="en-US" dirty="0">
                <a:solidFill>
                  <a:srgbClr val="222222"/>
                </a:solidFill>
                <a:highlight>
                  <a:srgbClr val="FFFFFF"/>
                </a:highlight>
              </a:rPr>
              <a:t>Semantic search across knowledge bases</a:t>
            </a:r>
          </a:p>
          <a:p>
            <a:pPr lvl="1">
              <a:buFont typeface="Arial" panose="020B0604020202020204" pitchFamily="34" charset="0"/>
              <a:buChar char="•"/>
            </a:pPr>
            <a:r>
              <a:rPr lang="en-US" dirty="0">
                <a:solidFill>
                  <a:srgbClr val="222222"/>
                </a:solidFill>
                <a:highlight>
                  <a:srgbClr val="FFFFFF"/>
                </a:highlight>
              </a:rPr>
              <a:t>Retrieves accurate, up-to-date knowledge</a:t>
            </a:r>
          </a:p>
          <a:p>
            <a:pPr lvl="1">
              <a:buFont typeface="Arial" panose="020B0604020202020204" pitchFamily="34" charset="0"/>
              <a:buChar char="•"/>
            </a:pPr>
            <a:endParaRPr lang="en-US" dirty="0">
              <a:solidFill>
                <a:srgbClr val="222222"/>
              </a:solidFill>
              <a:highlight>
                <a:srgbClr val="FFFFFF"/>
              </a:highlight>
            </a:endParaRPr>
          </a:p>
          <a:p>
            <a:pPr>
              <a:buFont typeface="Wingdings" panose="05000000000000000000" pitchFamily="2" charset="2"/>
              <a:buChar char="v"/>
            </a:pPr>
            <a:r>
              <a:rPr lang="en-US" dirty="0">
                <a:solidFill>
                  <a:srgbClr val="222222"/>
                </a:solidFill>
                <a:highlight>
                  <a:srgbClr val="FFFFFF"/>
                </a:highlight>
              </a:rPr>
              <a:t>Reviewer Agent</a:t>
            </a:r>
          </a:p>
          <a:p>
            <a:pPr lvl="1">
              <a:buFont typeface="Arial" panose="020B0604020202020204" pitchFamily="34" charset="0"/>
              <a:buChar char="•"/>
            </a:pPr>
            <a:r>
              <a:rPr lang="en-US" dirty="0">
                <a:solidFill>
                  <a:srgbClr val="222222"/>
                </a:solidFill>
                <a:highlight>
                  <a:srgbClr val="FFFFFF"/>
                </a:highlight>
              </a:rPr>
              <a:t>Ensures responses are Accurate, Policy-compliant, and Safe/appropriate</a:t>
            </a:r>
          </a:p>
          <a:p>
            <a:pPr lvl="1">
              <a:buFont typeface="Arial" panose="020B0604020202020204" pitchFamily="34" charset="0"/>
              <a:buChar char="•"/>
            </a:pPr>
            <a:r>
              <a:rPr lang="en-US" dirty="0">
                <a:solidFill>
                  <a:srgbClr val="222222"/>
                </a:solidFill>
                <a:highlight>
                  <a:srgbClr val="FFFFFF"/>
                </a:highlight>
              </a:rPr>
              <a:t>Alignment with Texas State Regulations</a:t>
            </a:r>
          </a:p>
          <a:p>
            <a:pPr marL="596900" lvl="1" indent="0">
              <a:buNone/>
            </a:pPr>
            <a:endParaRPr dirty="0">
              <a:solidFill>
                <a:srgbClr val="222222"/>
              </a:solidFill>
              <a:highlight>
                <a:srgbClr val="FFFFFF"/>
              </a:highlight>
            </a:endParaRPr>
          </a:p>
          <a:p>
            <a:pPr marL="0" lvl="0" indent="0" algn="l" rtl="0">
              <a:spcBef>
                <a:spcPts val="0"/>
              </a:spcBef>
              <a:spcAft>
                <a:spcPts val="1200"/>
              </a:spcAft>
              <a:buNone/>
            </a:pPr>
            <a:endParaRPr dirty="0"/>
          </a:p>
        </p:txBody>
      </p:sp>
    </p:spTree>
    <p:extLst>
      <p:ext uri="{BB962C8B-B14F-4D97-AF65-F5344CB8AC3E}">
        <p14:creationId xmlns:p14="http://schemas.microsoft.com/office/powerpoint/2010/main" val="315432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Decision Logic</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10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Read the question carefully</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Determine if it's about child neglect or abuse laws and regulations in Texas</a:t>
            </a:r>
            <a:r>
              <a:rPr lang="en" sz="1900">
                <a:solidFill>
                  <a:srgbClr val="222222"/>
                </a:solidFill>
                <a:highlight>
                  <a:srgbClr val="FFFFFF"/>
                </a:highlight>
                <a:latin typeface="Times New Roman"/>
                <a:ea typeface="Times New Roman"/>
                <a:cs typeface="Times New Roman"/>
                <a:sym typeface="Times New Roman"/>
              </a:rPr>
              <a:t>→</a:t>
            </a:r>
            <a:r>
              <a:rPr lang="en" sz="1900">
                <a:solidFill>
                  <a:srgbClr val="222222"/>
                </a:solidFill>
                <a:highlight>
                  <a:srgbClr val="FFFFFF"/>
                </a:highlight>
              </a:rPr>
              <a:t> Use search_documents first</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If it needs current/external information </a:t>
            </a:r>
            <a:r>
              <a:rPr lang="en" sz="1900">
                <a:solidFill>
                  <a:srgbClr val="222222"/>
                </a:solidFill>
                <a:highlight>
                  <a:srgbClr val="FFFFFF"/>
                </a:highlight>
                <a:latin typeface="Times New Roman"/>
                <a:ea typeface="Times New Roman"/>
                <a:cs typeface="Times New Roman"/>
                <a:sym typeface="Times New Roman"/>
              </a:rPr>
              <a:t>→</a:t>
            </a:r>
            <a:r>
              <a:rPr lang="en" sz="1900">
                <a:solidFill>
                  <a:srgbClr val="222222"/>
                </a:solidFill>
                <a:highlight>
                  <a:srgbClr val="FFFFFF"/>
                </a:highlight>
              </a:rPr>
              <a:t> Use web_search</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If question is ambiguous, try search_documents first, then web_search if needed</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NEVER make up information - always cite sources</a:t>
            </a:r>
            <a:endParaRPr sz="1900">
              <a:solidFill>
                <a:srgbClr val="222222"/>
              </a:solidFill>
              <a:highlight>
                <a:srgbClr val="FFFFFF"/>
              </a:highlight>
            </a:endParaRPr>
          </a:p>
          <a:p>
            <a:pPr marL="0" lvl="0" indent="0" algn="l" rtl="0">
              <a:spcBef>
                <a:spcPts val="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Response Guidelines</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Be friendly, professional, and helpful</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Provide accurate information based on search results</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Cite where information came from (knowledge base or web source)</a:t>
            </a:r>
            <a:endParaRPr sz="1900">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sz="1600">
                <a:solidFill>
                  <a:srgbClr val="222222"/>
                </a:solidFill>
                <a:highlight>
                  <a:srgbClr val="FFFFFF"/>
                </a:highlight>
              </a:rPr>
              <a:t>I</a:t>
            </a:r>
            <a:r>
              <a:rPr lang="en" sz="1900">
                <a:solidFill>
                  <a:srgbClr val="222222"/>
                </a:solidFill>
                <a:highlight>
                  <a:srgbClr val="FFFFFF"/>
                </a:highlight>
              </a:rPr>
              <a:t>f you find relevant documents, quote key information</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If you cannot find information, be honest about it</a:t>
            </a:r>
            <a:endParaRPr sz="1900">
              <a:solidFill>
                <a:srgbClr val="222222"/>
              </a:solidFill>
              <a:highlight>
                <a:srgbClr val="FFFFFF"/>
              </a:highlight>
            </a:endParaRPr>
          </a:p>
          <a:p>
            <a:pPr marL="457200" lvl="0" indent="-349250" algn="l" rtl="0">
              <a:spcBef>
                <a:spcPts val="0"/>
              </a:spcBef>
              <a:spcAft>
                <a:spcPts val="0"/>
              </a:spcAft>
              <a:buClr>
                <a:srgbClr val="222222"/>
              </a:buClr>
              <a:buSzPts val="1900"/>
              <a:buChar char="❖"/>
            </a:pPr>
            <a:r>
              <a:rPr lang="en" sz="1900">
                <a:solidFill>
                  <a:srgbClr val="222222"/>
                </a:solidFill>
                <a:highlight>
                  <a:srgbClr val="FFFFFF"/>
                </a:highlight>
              </a:rPr>
              <a:t>Suggest alternatives if the answer isn't available</a:t>
            </a:r>
            <a:endParaRPr sz="1900">
              <a:solidFill>
                <a:srgbClr val="222222"/>
              </a:solidFill>
              <a:highlight>
                <a:srgbClr val="FFFFFF"/>
              </a:highlight>
            </a:endParaRPr>
          </a:p>
          <a:p>
            <a:pPr marL="0" lvl="0" indent="0" algn="l" rtl="0">
              <a:spcBef>
                <a:spcPts val="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90055"/>
            <a:ext cx="8520600" cy="927670"/>
          </a:xfrm>
          <a:prstGeom prst="rect">
            <a:avLst/>
          </a:prstGeom>
        </p:spPr>
        <p:txBody>
          <a:bodyPr spcFirstLastPara="1" wrap="square" lIns="91425" tIns="91425" rIns="91425" bIns="91425" anchor="t" anchorCtr="0">
            <a:normAutofit/>
          </a:bodyPr>
          <a:lstStyle/>
          <a:p>
            <a:pPr lvl="0"/>
            <a:r>
              <a:rPr lang="en-US" sz="1800" dirty="0" err="1"/>
              <a:t>ChatBot</a:t>
            </a:r>
            <a:r>
              <a:rPr lang="en-US" sz="1800" dirty="0"/>
              <a:t> UI </a:t>
            </a:r>
            <a:r>
              <a:rPr lang="en-US" sz="1800" dirty="0">
                <a:sym typeface="Wingdings" panose="05000000000000000000" pitchFamily="2" charset="2"/>
              </a:rPr>
              <a:t> </a:t>
            </a:r>
            <a:r>
              <a:rPr lang="en-US" sz="1300" u="sng" dirty="0">
                <a:hlinkClick r:id="rId3"/>
              </a:rPr>
              <a:t>https://training-chatbot-ui-900460058773.us-central1.run.app</a:t>
            </a:r>
            <a:br>
              <a:rPr lang="en-US" sz="1300" u="sng" dirty="0"/>
            </a:br>
            <a:r>
              <a:rPr lang="en-US" sz="1800" dirty="0" err="1"/>
              <a:t>ChatBot</a:t>
            </a:r>
            <a:r>
              <a:rPr lang="en-US" sz="1800" dirty="0"/>
              <a:t> Code </a:t>
            </a:r>
            <a:r>
              <a:rPr lang="en-US" sz="1800" dirty="0">
                <a:sym typeface="Wingdings" panose="05000000000000000000" pitchFamily="2" charset="2"/>
              </a:rPr>
              <a:t></a:t>
            </a:r>
            <a:r>
              <a:rPr lang="en-US" sz="1300" dirty="0">
                <a:sym typeface="Wingdings" panose="05000000000000000000" pitchFamily="2" charset="2"/>
              </a:rPr>
              <a:t> </a:t>
            </a:r>
            <a:r>
              <a:rPr lang="en-US" sz="1300" u="sng" dirty="0">
                <a:hlinkClick r:id="rId4"/>
              </a:rPr>
              <a:t>https://training-chatbot-900460058773.us-central1.run.app</a:t>
            </a:r>
            <a:endParaRPr sz="1300" dirty="0"/>
          </a:p>
        </p:txBody>
      </p:sp>
      <p:pic>
        <p:nvPicPr>
          <p:cNvPr id="3" name="Picture 2">
            <a:extLst>
              <a:ext uri="{FF2B5EF4-FFF2-40B4-BE49-F238E27FC236}">
                <a16:creationId xmlns:a16="http://schemas.microsoft.com/office/drawing/2014/main" id="{89776B14-27D7-05C1-8B7D-D13F83D15E16}"/>
              </a:ext>
            </a:extLst>
          </p:cNvPr>
          <p:cNvPicPr>
            <a:picLocks noChangeAspect="1"/>
          </p:cNvPicPr>
          <p:nvPr/>
        </p:nvPicPr>
        <p:blipFill>
          <a:blip r:embed="rId5"/>
          <a:stretch>
            <a:fillRect/>
          </a:stretch>
        </p:blipFill>
        <p:spPr>
          <a:xfrm>
            <a:off x="367116" y="1066800"/>
            <a:ext cx="7210661" cy="38927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F59D180-C4BF-EC40-F931-FA11076A8A22}"/>
            </a:ext>
          </a:extLst>
        </p:cNvPr>
        <p:cNvGrpSpPr/>
        <p:nvPr/>
      </p:nvGrpSpPr>
      <p:grpSpPr>
        <a:xfrm>
          <a:off x="0" y="0"/>
          <a:ext cx="0" cy="0"/>
          <a:chOff x="0" y="0"/>
          <a:chExt cx="0" cy="0"/>
        </a:xfrm>
      </p:grpSpPr>
      <p:sp>
        <p:nvSpPr>
          <p:cNvPr id="96" name="Google Shape;96;p20">
            <a:extLst>
              <a:ext uri="{FF2B5EF4-FFF2-40B4-BE49-F238E27FC236}">
                <a16:creationId xmlns:a16="http://schemas.microsoft.com/office/drawing/2014/main" id="{13A53A85-819F-B47D-328A-DD253C0C83EE}"/>
              </a:ext>
            </a:extLst>
          </p:cNvPr>
          <p:cNvSpPr txBox="1">
            <a:spLocks noGrp="1"/>
          </p:cNvSpPr>
          <p:nvPr>
            <p:ph type="title"/>
          </p:nvPr>
        </p:nvSpPr>
        <p:spPr>
          <a:xfrm>
            <a:off x="311700" y="90055"/>
            <a:ext cx="8520600" cy="498763"/>
          </a:xfrm>
          <a:prstGeom prst="rect">
            <a:avLst/>
          </a:prstGeom>
        </p:spPr>
        <p:txBody>
          <a:bodyPr spcFirstLastPara="1" wrap="square" lIns="91425" tIns="91425" rIns="91425" bIns="91425" anchor="t" anchorCtr="0">
            <a:normAutofit/>
          </a:bodyPr>
          <a:lstStyle/>
          <a:p>
            <a:pPr lvl="0"/>
            <a:r>
              <a:rPr lang="en-US" sz="1800" dirty="0"/>
              <a:t>Cloud Run - Services</a:t>
            </a:r>
            <a:endParaRPr sz="1800" dirty="0"/>
          </a:p>
        </p:txBody>
      </p:sp>
      <p:pic>
        <p:nvPicPr>
          <p:cNvPr id="1026" name="Picture 2" descr="Inline image">
            <a:extLst>
              <a:ext uri="{FF2B5EF4-FFF2-40B4-BE49-F238E27FC236}">
                <a16:creationId xmlns:a16="http://schemas.microsoft.com/office/drawing/2014/main" id="{904AEB29-E069-3B60-3B47-6B2C4341CC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1318431"/>
            <a:ext cx="8449108" cy="331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3697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B1A07D1-E573-7E34-BF71-6FBAA3D0CF90}"/>
            </a:ext>
          </a:extLst>
        </p:cNvPr>
        <p:cNvGrpSpPr/>
        <p:nvPr/>
      </p:nvGrpSpPr>
      <p:grpSpPr>
        <a:xfrm>
          <a:off x="0" y="0"/>
          <a:ext cx="0" cy="0"/>
          <a:chOff x="0" y="0"/>
          <a:chExt cx="0" cy="0"/>
        </a:xfrm>
      </p:grpSpPr>
      <p:sp>
        <p:nvSpPr>
          <p:cNvPr id="96" name="Google Shape;96;p20">
            <a:extLst>
              <a:ext uri="{FF2B5EF4-FFF2-40B4-BE49-F238E27FC236}">
                <a16:creationId xmlns:a16="http://schemas.microsoft.com/office/drawing/2014/main" id="{1781C08E-0338-663F-EAC9-B53BEE9F981F}"/>
              </a:ext>
            </a:extLst>
          </p:cNvPr>
          <p:cNvSpPr txBox="1">
            <a:spLocks noGrp="1"/>
          </p:cNvSpPr>
          <p:nvPr>
            <p:ph type="title"/>
          </p:nvPr>
        </p:nvSpPr>
        <p:spPr>
          <a:xfrm>
            <a:off x="311700" y="90055"/>
            <a:ext cx="8520600" cy="498763"/>
          </a:xfrm>
          <a:prstGeom prst="rect">
            <a:avLst/>
          </a:prstGeom>
        </p:spPr>
        <p:txBody>
          <a:bodyPr spcFirstLastPara="1" wrap="square" lIns="91425" tIns="91425" rIns="91425" bIns="91425" anchor="t" anchorCtr="0">
            <a:normAutofit/>
          </a:bodyPr>
          <a:lstStyle/>
          <a:p>
            <a:pPr lvl="0"/>
            <a:r>
              <a:rPr lang="en-US" sz="1800" dirty="0"/>
              <a:t>Cloud Run – training-chatbot-</a:t>
            </a:r>
            <a:r>
              <a:rPr lang="en-US" sz="1800" dirty="0" err="1"/>
              <a:t>ui</a:t>
            </a:r>
            <a:endParaRPr sz="1800" dirty="0"/>
          </a:p>
        </p:txBody>
      </p:sp>
      <p:pic>
        <p:nvPicPr>
          <p:cNvPr id="2050" name="Picture 2" descr="Inline image">
            <a:extLst>
              <a:ext uri="{FF2B5EF4-FFF2-40B4-BE49-F238E27FC236}">
                <a16:creationId xmlns:a16="http://schemas.microsoft.com/office/drawing/2014/main" id="{A1B64FA8-143E-731D-D569-4AD546C55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63" y="725926"/>
            <a:ext cx="7711716" cy="369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8779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09AD599-BCF2-0AC0-7A25-0BC5AD8AF8A0}"/>
            </a:ext>
          </a:extLst>
        </p:cNvPr>
        <p:cNvGrpSpPr/>
        <p:nvPr/>
      </p:nvGrpSpPr>
      <p:grpSpPr>
        <a:xfrm>
          <a:off x="0" y="0"/>
          <a:ext cx="0" cy="0"/>
          <a:chOff x="0" y="0"/>
          <a:chExt cx="0" cy="0"/>
        </a:xfrm>
      </p:grpSpPr>
      <p:sp>
        <p:nvSpPr>
          <p:cNvPr id="96" name="Google Shape;96;p20">
            <a:extLst>
              <a:ext uri="{FF2B5EF4-FFF2-40B4-BE49-F238E27FC236}">
                <a16:creationId xmlns:a16="http://schemas.microsoft.com/office/drawing/2014/main" id="{1FDE309D-8C09-2043-8A55-7B40985168DE}"/>
              </a:ext>
            </a:extLst>
          </p:cNvPr>
          <p:cNvSpPr txBox="1">
            <a:spLocks noGrp="1"/>
          </p:cNvSpPr>
          <p:nvPr>
            <p:ph type="title"/>
          </p:nvPr>
        </p:nvSpPr>
        <p:spPr>
          <a:xfrm>
            <a:off x="311700" y="90055"/>
            <a:ext cx="8520600" cy="498763"/>
          </a:xfrm>
          <a:prstGeom prst="rect">
            <a:avLst/>
          </a:prstGeom>
        </p:spPr>
        <p:txBody>
          <a:bodyPr spcFirstLastPara="1" wrap="square" lIns="91425" tIns="91425" rIns="91425" bIns="91425" anchor="t" anchorCtr="0">
            <a:normAutofit/>
          </a:bodyPr>
          <a:lstStyle/>
          <a:p>
            <a:pPr lvl="0"/>
            <a:r>
              <a:rPr lang="en-US" sz="1800" dirty="0"/>
              <a:t>Cloud Run – training-chatbot</a:t>
            </a:r>
            <a:endParaRPr sz="1800" dirty="0"/>
          </a:p>
        </p:txBody>
      </p:sp>
      <p:pic>
        <p:nvPicPr>
          <p:cNvPr id="3074" name="Picture 2" descr="Inline image">
            <a:extLst>
              <a:ext uri="{FF2B5EF4-FFF2-40B4-BE49-F238E27FC236}">
                <a16:creationId xmlns:a16="http://schemas.microsoft.com/office/drawing/2014/main" id="{A59BB795-1267-2758-4DAC-B4C30D7382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928" y="804069"/>
            <a:ext cx="8171494" cy="390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556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36ED083-443C-BEB9-CD91-03910E7FC358}"/>
            </a:ext>
          </a:extLst>
        </p:cNvPr>
        <p:cNvGrpSpPr/>
        <p:nvPr/>
      </p:nvGrpSpPr>
      <p:grpSpPr>
        <a:xfrm>
          <a:off x="0" y="0"/>
          <a:ext cx="0" cy="0"/>
          <a:chOff x="0" y="0"/>
          <a:chExt cx="0" cy="0"/>
        </a:xfrm>
      </p:grpSpPr>
      <p:sp>
        <p:nvSpPr>
          <p:cNvPr id="96" name="Google Shape;96;p20">
            <a:extLst>
              <a:ext uri="{FF2B5EF4-FFF2-40B4-BE49-F238E27FC236}">
                <a16:creationId xmlns:a16="http://schemas.microsoft.com/office/drawing/2014/main" id="{B0A9A395-DF84-26E6-860C-FB7CFAFA52ED}"/>
              </a:ext>
            </a:extLst>
          </p:cNvPr>
          <p:cNvSpPr txBox="1">
            <a:spLocks noGrp="1"/>
          </p:cNvSpPr>
          <p:nvPr>
            <p:ph type="title"/>
          </p:nvPr>
        </p:nvSpPr>
        <p:spPr>
          <a:xfrm>
            <a:off x="311700" y="90055"/>
            <a:ext cx="8520600" cy="927670"/>
          </a:xfrm>
          <a:prstGeom prst="rect">
            <a:avLst/>
          </a:prstGeom>
        </p:spPr>
        <p:txBody>
          <a:bodyPr spcFirstLastPara="1" wrap="square" lIns="91425" tIns="91425" rIns="91425" bIns="91425" anchor="t" anchorCtr="0">
            <a:normAutofit/>
          </a:bodyPr>
          <a:lstStyle/>
          <a:p>
            <a:r>
              <a:rPr lang="en-US" sz="2000" b="1" dirty="0" err="1"/>
              <a:t>Github</a:t>
            </a:r>
            <a:r>
              <a:rPr lang="en-US" sz="2000" b="1" dirty="0"/>
              <a:t> link </a:t>
            </a:r>
            <a:r>
              <a:rPr lang="en-US" sz="2000" b="1" dirty="0">
                <a:sym typeface="Wingdings" panose="05000000000000000000" pitchFamily="2" charset="2"/>
              </a:rPr>
              <a:t></a:t>
            </a:r>
            <a:r>
              <a:rPr lang="en-US" sz="1600" u="sng" dirty="0">
                <a:hlinkClick r:id="rId3"/>
              </a:rPr>
              <a:t>https://github.com/danixconsulting-hue/Agentic-AI-Final-Project</a:t>
            </a:r>
            <a:br>
              <a:rPr lang="en-US" dirty="0"/>
            </a:br>
            <a:endParaRPr sz="1800" dirty="0"/>
          </a:p>
        </p:txBody>
      </p:sp>
      <p:pic>
        <p:nvPicPr>
          <p:cNvPr id="4098" name="Picture 2" descr="Inline image">
            <a:extLst>
              <a:ext uri="{FF2B5EF4-FFF2-40B4-BE49-F238E27FC236}">
                <a16:creationId xmlns:a16="http://schemas.microsoft.com/office/drawing/2014/main" id="{300BE3F3-B759-D564-A740-0E679562E2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370" y="577542"/>
            <a:ext cx="5488516" cy="456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581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81F66AC-0EB5-3E25-E03D-DC9528CAA2E2}"/>
            </a:ext>
          </a:extLst>
        </p:cNvPr>
        <p:cNvGrpSpPr/>
        <p:nvPr/>
      </p:nvGrpSpPr>
      <p:grpSpPr>
        <a:xfrm>
          <a:off x="0" y="0"/>
          <a:ext cx="0" cy="0"/>
          <a:chOff x="0" y="0"/>
          <a:chExt cx="0" cy="0"/>
        </a:xfrm>
      </p:grpSpPr>
      <p:sp>
        <p:nvSpPr>
          <p:cNvPr id="96" name="Google Shape;96;p20">
            <a:extLst>
              <a:ext uri="{FF2B5EF4-FFF2-40B4-BE49-F238E27FC236}">
                <a16:creationId xmlns:a16="http://schemas.microsoft.com/office/drawing/2014/main" id="{8CF1F0D6-C3A7-64E9-CA27-F4E8B92DAB63}"/>
              </a:ext>
            </a:extLst>
          </p:cNvPr>
          <p:cNvSpPr txBox="1">
            <a:spLocks noGrp="1"/>
          </p:cNvSpPr>
          <p:nvPr>
            <p:ph type="title"/>
          </p:nvPr>
        </p:nvSpPr>
        <p:spPr>
          <a:xfrm>
            <a:off x="311700" y="90055"/>
            <a:ext cx="8520600" cy="927670"/>
          </a:xfrm>
          <a:prstGeom prst="rect">
            <a:avLst/>
          </a:prstGeom>
        </p:spPr>
        <p:txBody>
          <a:bodyPr spcFirstLastPara="1" wrap="square" lIns="91425" tIns="91425" rIns="91425" bIns="91425" anchor="t" anchorCtr="0">
            <a:normAutofit/>
          </a:bodyPr>
          <a:lstStyle/>
          <a:p>
            <a:r>
              <a:rPr lang="en-US" sz="2000" b="1" dirty="0" err="1"/>
              <a:t>Github</a:t>
            </a:r>
            <a:r>
              <a:rPr lang="en-US" sz="2000" b="1" dirty="0"/>
              <a:t> link </a:t>
            </a:r>
            <a:r>
              <a:rPr lang="en-US" sz="2000" b="1" dirty="0">
                <a:sym typeface="Wingdings" panose="05000000000000000000" pitchFamily="2" charset="2"/>
              </a:rPr>
              <a:t></a:t>
            </a:r>
            <a:r>
              <a:rPr lang="en-US" sz="1600" u="sng" dirty="0">
                <a:hlinkClick r:id="rId3"/>
              </a:rPr>
              <a:t>https://github.com/danixconsulting-hue/Agentic-AI-Final-Project</a:t>
            </a:r>
            <a:br>
              <a:rPr lang="en-US" dirty="0"/>
            </a:br>
            <a:endParaRPr sz="1800" dirty="0"/>
          </a:p>
        </p:txBody>
      </p:sp>
      <p:pic>
        <p:nvPicPr>
          <p:cNvPr id="4098" name="Picture 2" descr="Inline image">
            <a:extLst>
              <a:ext uri="{FF2B5EF4-FFF2-40B4-BE49-F238E27FC236}">
                <a16:creationId xmlns:a16="http://schemas.microsoft.com/office/drawing/2014/main" id="{36FA6F59-0158-8A8C-F2E2-3FAB51521E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370" y="577542"/>
            <a:ext cx="5488516" cy="456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6368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Decision Framework</a:t>
            </a:r>
          </a:p>
        </p:txBody>
      </p:sp>
      <p:sp>
        <p:nvSpPr>
          <p:cNvPr id="3" name="Content Placeholder 2"/>
          <p:cNvSpPr>
            <a:spLocks noGrp="1"/>
          </p:cNvSpPr>
          <p:nvPr>
            <p:ph idx="1"/>
          </p:nvPr>
        </p:nvSpPr>
        <p:spPr/>
        <p:txBody>
          <a:bodyPr/>
          <a:lstStyle/>
          <a:p>
            <a:r>
              <a:t>Prioritize internal knowledge base</a:t>
            </a:r>
          </a:p>
          <a:p>
            <a:r>
              <a:t>Use external sources only when needed</a:t>
            </a:r>
          </a:p>
          <a:p>
            <a:r>
              <a:t>Ensure verifiable and cited responses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Governance &amp; Compliance</a:t>
            </a:r>
          </a:p>
        </p:txBody>
      </p:sp>
      <p:sp>
        <p:nvSpPr>
          <p:cNvPr id="3" name="Content Placeholder 2"/>
          <p:cNvSpPr>
            <a:spLocks noGrp="1"/>
          </p:cNvSpPr>
          <p:nvPr>
            <p:ph idx="1"/>
          </p:nvPr>
        </p:nvSpPr>
        <p:spPr/>
        <p:txBody>
          <a:bodyPr/>
          <a:lstStyle/>
          <a:p>
            <a:r>
              <a:t>Aligned to Texas DFPS guidelines</a:t>
            </a:r>
          </a:p>
          <a:p>
            <a:r>
              <a:t>Audit-ready and traceable outputs</a:t>
            </a:r>
          </a:p>
          <a:p>
            <a:r>
              <a:t>Responsible handling of sensitive content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Value Proposition</a:t>
            </a:r>
          </a:p>
        </p:txBody>
      </p:sp>
      <p:sp>
        <p:nvSpPr>
          <p:cNvPr id="3" name="Content Placeholder 2"/>
          <p:cNvSpPr>
            <a:spLocks noGrp="1"/>
          </p:cNvSpPr>
          <p:nvPr>
            <p:ph idx="1"/>
          </p:nvPr>
        </p:nvSpPr>
        <p:spPr/>
        <p:txBody>
          <a:bodyPr/>
          <a:lstStyle/>
          <a:p>
            <a:r>
              <a:t>Improves trust and accuracy</a:t>
            </a:r>
          </a:p>
          <a:p>
            <a:r>
              <a:t>Supports mandated reporting training</a:t>
            </a:r>
          </a:p>
          <a:p>
            <a:r>
              <a:t>Modern, scalable AI architecture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516</Words>
  <Application>Microsoft Office PowerPoint</Application>
  <PresentationFormat>On-screen Show (16:9)</PresentationFormat>
  <Paragraphs>75</Paragraphs>
  <Slides>17</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Times New Roman</vt:lpstr>
      <vt:lpstr>Wingdings</vt:lpstr>
      <vt:lpstr>Simple Light</vt:lpstr>
      <vt:lpstr>Child Welfare Training Chatbot Child Abuse and Neglect Training in Texas</vt:lpstr>
      <vt:lpstr>Child Abuse and Neglect Training  in Texas Agent </vt:lpstr>
      <vt:lpstr>Overview</vt:lpstr>
      <vt:lpstr>RAG Documents</vt:lpstr>
      <vt:lpstr>Web Search Enquiries or Questions</vt:lpstr>
      <vt:lpstr>Multi Agents System</vt:lpstr>
      <vt:lpstr>Decision Logic</vt:lpstr>
      <vt:lpstr>Response Guidelines</vt:lpstr>
      <vt:lpstr>ChatBot UI  https://training-chatbot-ui-900460058773.us-central1.run.app ChatBot Code  https://training-chatbot-900460058773.us-central1.run.app</vt:lpstr>
      <vt:lpstr>Cloud Run - Services</vt:lpstr>
      <vt:lpstr>Cloud Run – training-chatbot-ui</vt:lpstr>
      <vt:lpstr>Cloud Run – training-chatbot</vt:lpstr>
      <vt:lpstr>Github link https://github.com/danixconsulting-hue/Agentic-AI-Final-Project </vt:lpstr>
      <vt:lpstr>Github link https://github.com/danixconsulting-hue/Agentic-AI-Final-Project </vt:lpstr>
      <vt:lpstr>Decision Framework</vt:lpstr>
      <vt:lpstr>Governance &amp; Compliance</vt:lpstr>
      <vt:lpstr>Value Proposition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Zaheer Saeed</dc:creator>
  <cp:lastModifiedBy>Zaheer Saeed</cp:lastModifiedBy>
  <cp:revision>3</cp:revision>
  <dcterms:modified xsi:type="dcterms:W3CDTF">2026-06-24T18:44:23Z</dcterms:modified>
</cp:coreProperties>
</file>